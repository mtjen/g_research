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PT Sans Narrow"/>
      <p:regular r:id="rId38"/>
      <p:bold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5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TSansNarrow-bold.fntdata"/><Relationship Id="rId16" Type="http://schemas.openxmlformats.org/officeDocument/2006/relationships/slide" Target="slides/slide11.xml"/><Relationship Id="rId38" Type="http://schemas.openxmlformats.org/officeDocument/2006/relationships/font" Target="fonts/PTSansNarrow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01d9f18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01d9f18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01d9f18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01d9f18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01d9f18a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01d9f18a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f67f1406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f67f1406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f67f1406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f67f1406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f67f14064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f67f1406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6f67f1406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6f67f1406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f67f14064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6f67f14064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f67f1406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f67f1406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f67f1406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6f67f1406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fb5d96c0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cfb5d96c0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f67f14064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6f67f1406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f67f1406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f67f1406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f67f1406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f67f1406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f67f14064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f67f14064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038c0520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038c052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f80ef00d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f80ef00d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f80ef00d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f80ef00d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f80ef00d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cf80ef00d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cf80ef00d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cf80ef00d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4.4, 2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f80ef00d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cf80ef00d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f67f1406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6f67f1406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f80ef00d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cf80ef00d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cf80ef00d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cf80ef00d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cf80ef00d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cf80ef00d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f80ef00d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cf80ef00d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f80ef00d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cf80ef00d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f80ef00d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cf80ef00d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6f67f1406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6f67f1406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8f4e40f79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8f4e40f79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8f4e40f7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8f4e40f7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Statin Recommendation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266325"/>
            <a:ext cx="8520600" cy="3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</a:t>
            </a:r>
            <a:r>
              <a:rPr lang="en"/>
              <a:t> around Pooled Cohort Equations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 assessment tool for calculating 10-year risk of atherosclerotic cardiovascular disease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Incorporated into clinical guidelines on cholesterol, hypertension, and aspirin therapy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Widely used </a:t>
            </a:r>
            <a:r>
              <a:rPr lang="en"/>
              <a:t>in</a:t>
            </a:r>
            <a:r>
              <a:rPr lang="en"/>
              <a:t> clinical practice by primary care providers and cardiologists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Guidelines</a:t>
            </a:r>
            <a:r>
              <a:rPr lang="en"/>
              <a:t> recommend the tool as part of the statin therapy recommendation decision making process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&gt;= 7.5% for above 40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&gt;= 10% for above 40 and stage 1 hypertension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Want to look at </a:t>
            </a:r>
            <a:r>
              <a:rPr lang="en"/>
              <a:t>model</a:t>
            </a:r>
            <a:r>
              <a:rPr lang="en"/>
              <a:t> </a:t>
            </a:r>
            <a:r>
              <a:rPr lang="en"/>
              <a:t>robustness</a:t>
            </a:r>
            <a:r>
              <a:rPr lang="en"/>
              <a:t> across range of </a:t>
            </a:r>
            <a:r>
              <a:rPr lang="en"/>
              <a:t>values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 to determine if there are certain combinations of non-</a:t>
            </a:r>
            <a:r>
              <a:rPr lang="en"/>
              <a:t>modifiable</a:t>
            </a:r>
            <a:r>
              <a:rPr lang="en"/>
              <a:t> factors (age, race, and sex) where the risk calculator always returns intermediate/high risk, regardless of other modifiable clinical or behavioral values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8625"/>
            <a:ext cx="8839201" cy="3551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National Health and Nutrition Examination Survey (NHANES)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by National Center for Health Statistics, part of the CDC</a:t>
            </a:r>
            <a:br>
              <a:rPr lang="en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Combines data from interviews and physical examinations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Interviews ⇒ demographic, socioeconomic, dietary, and health related questions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Physical exams ⇒ lab tests, medical/dental/physiological measurements</a:t>
            </a:r>
            <a:br>
              <a:rPr lang="en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Collects </a:t>
            </a:r>
            <a:r>
              <a:rPr lang="en"/>
              <a:t>nationally representative sample </a:t>
            </a:r>
            <a:r>
              <a:rPr lang="en"/>
              <a:t>data from 5,000 people per year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Dataset published every </a:t>
            </a:r>
            <a:r>
              <a:rPr lang="en"/>
              <a:t>other</a:t>
            </a:r>
            <a:r>
              <a:rPr lang="en"/>
              <a:t> year</a:t>
            </a:r>
            <a:br>
              <a:rPr lang="en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datasets from 2011-2012, 2013-2014, 2015-2016, and 2017-2018 surveys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Definitions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66325"/>
            <a:ext cx="4316700" cy="3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 at screening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Cholesterol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 HDL cholesterol (mg/dL)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</a:t>
            </a:r>
            <a:r>
              <a:rPr lang="en"/>
              <a:t>Cholesterol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</a:t>
            </a:r>
            <a:r>
              <a:rPr lang="en"/>
              <a:t> cholesterol (mg/dL)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Hypertension Medication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Taking prescription medication for cholesterol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Male/Female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Ethnicity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Race and hispanic origin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572000" y="1152425"/>
            <a:ext cx="4168200" cy="3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Diabetes Status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Told by doctor that they have diabetes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Smoking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they currently smoke cigarettes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SBP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reading (mmHg)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DBP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</a:t>
            </a:r>
            <a:r>
              <a:rPr lang="en"/>
              <a:t>ean reading (mmHg)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Blood Pressure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Told by doctor that they have high blood pressure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Definitions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10201" t="0"/>
          <a:stretch/>
        </p:blipFill>
        <p:spPr>
          <a:xfrm>
            <a:off x="191575" y="1454938"/>
            <a:ext cx="8760852" cy="22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Definitions - Additional Variables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266325"/>
            <a:ext cx="4104000" cy="3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Ethnicity Binary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or Other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 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Calculated using ASCVD </a:t>
            </a:r>
            <a:r>
              <a:rPr lang="en"/>
              <a:t>risk</a:t>
            </a:r>
            <a:r>
              <a:rPr lang="en"/>
              <a:t> calculator equations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Other/Black Male/Female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572000" y="1152425"/>
            <a:ext cx="4168200" cy="3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Flag (g1_is_rec)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 score is/isn’t &gt;= 7.5%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HBP Flag (g2_is_rec)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with high blood pressure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 score is/isn’t &gt;= 10%</a:t>
            </a:r>
            <a:endParaRPr sz="1400"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333050"/>
            <a:ext cx="34908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⇒ percentages defined by ASCVD, indicates recommendation of high-intensity statin therapy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337" y="3448900"/>
            <a:ext cx="4035524" cy="14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Generation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75" y="1099600"/>
            <a:ext cx="6095023" cy="13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701" y="2229425"/>
            <a:ext cx="5170849" cy="27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Generation</a:t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50" y="1592825"/>
            <a:ext cx="4962399" cy="181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5176" y="1475000"/>
            <a:ext cx="3099250" cy="316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Generation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575" y="1119350"/>
            <a:ext cx="5110850" cy="380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Generation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213" y="1009825"/>
            <a:ext cx="5133575" cy="38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r>
              <a:rPr lang="en"/>
              <a:t> Import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425" y="1433150"/>
            <a:ext cx="7961150" cy="28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Score Calculation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810" y="987950"/>
            <a:ext cx="5466375" cy="385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Score Calculation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3">
            <a:alphaModFix/>
          </a:blip>
          <a:srcRect b="0" l="783" r="0" t="0"/>
          <a:stretch/>
        </p:blipFill>
        <p:spPr>
          <a:xfrm>
            <a:off x="2208225" y="1076225"/>
            <a:ext cx="4727550" cy="38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9151" y="1064575"/>
            <a:ext cx="5545702" cy="37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985" y="212787"/>
            <a:ext cx="4762029" cy="471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150" y="1296550"/>
            <a:ext cx="7648577" cy="323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00" y="3567150"/>
            <a:ext cx="961800" cy="12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5648" y="3567150"/>
            <a:ext cx="1017377" cy="12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00" y="1152419"/>
            <a:ext cx="2967149" cy="2307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5700" y="167000"/>
            <a:ext cx="3308651" cy="240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5700" y="2640997"/>
            <a:ext cx="3308650" cy="2335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20075"/>
            <a:ext cx="4761951" cy="319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000" y="1563325"/>
            <a:ext cx="2473275" cy="290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57350"/>
            <a:ext cx="36576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900" y="445025"/>
            <a:ext cx="36576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9900" y="2755925"/>
            <a:ext cx="36576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0600"/>
            <a:ext cx="5266107" cy="36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4252" y="1606740"/>
            <a:ext cx="2368675" cy="2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Shapley Values 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Contribution of feature values to the difference between the actual and mean predicted value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Identify variable influence in patients’ 10-year risk prediction</a:t>
            </a:r>
            <a:endParaRPr sz="1400"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699" y="1893700"/>
            <a:ext cx="5294600" cy="304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Shapley - Subgroup</a:t>
            </a:r>
            <a:endParaRPr/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3">
            <a:alphaModFix/>
          </a:blip>
          <a:srcRect b="8617" l="0" r="0" t="0"/>
          <a:stretch/>
        </p:blipFill>
        <p:spPr>
          <a:xfrm>
            <a:off x="1483538" y="1102075"/>
            <a:ext cx="6176924" cy="372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Shapley - Subgroup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57125"/>
            <a:ext cx="3862350" cy="210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92775"/>
            <a:ext cx="3083275" cy="2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487225"/>
            <a:ext cx="3031280" cy="2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895475"/>
            <a:ext cx="3862350" cy="2166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Shapley - Individual</a:t>
            </a:r>
            <a:endParaRPr/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875" y="1152425"/>
            <a:ext cx="1547350" cy="376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075" y="352788"/>
            <a:ext cx="5697601" cy="8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8788" y="1341425"/>
            <a:ext cx="5036176" cy="357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Shapley - Individual</a:t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700" y="345297"/>
            <a:ext cx="5776525" cy="9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3125" y="1305787"/>
            <a:ext cx="4926475" cy="35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0100" y="1073525"/>
            <a:ext cx="1547999" cy="38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Shapley - R Stuff 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1266325"/>
            <a:ext cx="3476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Can’t implement within Python due to package limitations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Begins as before - get Shapley values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Sort data by risk score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Find index </a:t>
            </a:r>
            <a:r>
              <a:rPr lang="en" sz="1400"/>
              <a:t>where</a:t>
            </a:r>
            <a:r>
              <a:rPr lang="en" sz="1400"/>
              <a:t> recommendation flips</a:t>
            </a:r>
            <a:endParaRPr sz="1400"/>
          </a:p>
        </p:txBody>
      </p:sp>
      <p:pic>
        <p:nvPicPr>
          <p:cNvPr id="251" name="Google Shape;2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600" y="303650"/>
            <a:ext cx="4963524" cy="453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Shapley - R Stuff </a:t>
            </a:r>
            <a:endParaRPr/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425" y="1152425"/>
            <a:ext cx="3749588" cy="368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488" y="1152425"/>
            <a:ext cx="3693270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Conclusions</a:t>
            </a:r>
            <a:endParaRPr/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influential variables in predicting statin </a:t>
            </a:r>
            <a:r>
              <a:rPr lang="en"/>
              <a:t>therapy</a:t>
            </a:r>
            <a:r>
              <a:rPr lang="en"/>
              <a:t> recommendation are diabetes status, smoking status, hypertension medication status, and sex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Recommendation rates from oldest to youngest: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Females </a:t>
            </a:r>
            <a:r>
              <a:rPr lang="en"/>
              <a:t>→ </a:t>
            </a:r>
            <a:r>
              <a:rPr lang="en"/>
              <a:t>Black Females → Other Males → Black Males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Black males’ recommendation rates are much higher overall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idx="1" type="body"/>
          </p:nvPr>
        </p:nvSpPr>
        <p:spPr>
          <a:xfrm>
            <a:off x="311700" y="1266325"/>
            <a:ext cx="8520600" cy="3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Ages when statin recommendation percentages initially </a:t>
            </a:r>
            <a:r>
              <a:rPr lang="en"/>
              <a:t>pass</a:t>
            </a:r>
            <a:r>
              <a:rPr lang="en"/>
              <a:t> 50% by subgroup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Females: 58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Males: 49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Females: 66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Males: 55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Ages when statin recommendation percentages initially equal 100% by subgroup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Females: 68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Males: 65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Females: 73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Males: 67</a:t>
            </a:r>
            <a:endParaRPr/>
          </a:p>
        </p:txBody>
      </p:sp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Conclusions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311700" y="2218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